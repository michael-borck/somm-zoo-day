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C0EC658-629A-4B9F-8CD7-F5F2AC595E4B}" v="3" dt="2026-08-03T03:42:19.3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495" autoAdjust="0"/>
  </p:normalViewPr>
  <p:slideViewPr>
    <p:cSldViewPr snapToGrid="0">
      <p:cViewPr varScale="1">
        <p:scale>
          <a:sx n="74" d="100"/>
          <a:sy n="74" d="100"/>
        </p:scale>
        <p:origin x="869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Relationship Id="rId46" Type="http://schemas.microsoft.com/office/2016/11/relationships/changesInfo" Target="changesInfos/changesInfo1.xml"/><Relationship Id="rId4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ke Butcher" userId="0bea7ca4-c3cb-4238-b587-94c3ffb2e2b7" providerId="ADAL" clId="{0B1193C6-F070-4D8D-8FA2-2955F4A27445}"/>
    <pc:docChg chg="custSel delSld modSld sldOrd">
      <pc:chgData name="Luke Butcher" userId="0bea7ca4-c3cb-4238-b587-94c3ffb2e2b7" providerId="ADAL" clId="{0B1193C6-F070-4D8D-8FA2-2955F4A27445}" dt="2026-08-03T03:47:02.225" v="225" actId="255"/>
      <pc:docMkLst>
        <pc:docMk/>
      </pc:docMkLst>
      <pc:sldChg chg="modSp mod">
        <pc:chgData name="Luke Butcher" userId="0bea7ca4-c3cb-4238-b587-94c3ffb2e2b7" providerId="ADAL" clId="{0B1193C6-F070-4D8D-8FA2-2955F4A27445}" dt="2026-08-03T03:39:34.294" v="137" actId="1035"/>
        <pc:sldMkLst>
          <pc:docMk/>
          <pc:sldMk cId="4026019907" sldId="258"/>
        </pc:sldMkLst>
        <pc:spChg chg="mod">
          <ac:chgData name="Luke Butcher" userId="0bea7ca4-c3cb-4238-b587-94c3ffb2e2b7" providerId="ADAL" clId="{0B1193C6-F070-4D8D-8FA2-2955F4A27445}" dt="2026-08-03T03:37:43.575" v="86" actId="1036"/>
          <ac:spMkLst>
            <pc:docMk/>
            <pc:sldMk cId="4026019907" sldId="258"/>
            <ac:spMk id="5" creationId="{5C9E9E21-DAF3-8452-2934-895ED831ABB8}"/>
          </ac:spMkLst>
        </pc:spChg>
        <pc:graphicFrameChg chg="mod modGraphic">
          <ac:chgData name="Luke Butcher" userId="0bea7ca4-c3cb-4238-b587-94c3ffb2e2b7" providerId="ADAL" clId="{0B1193C6-F070-4D8D-8FA2-2955F4A27445}" dt="2026-08-03T03:39:34.294" v="137" actId="1035"/>
          <ac:graphicFrameMkLst>
            <pc:docMk/>
            <pc:sldMk cId="4026019907" sldId="258"/>
            <ac:graphicFrameMk id="4" creationId="{6FBFD701-9DED-34A6-3A47-81663222C1F9}"/>
          </ac:graphicFrameMkLst>
        </pc:graphicFrameChg>
      </pc:sldChg>
      <pc:sldChg chg="addSp delSp modSp mod">
        <pc:chgData name="Luke Butcher" userId="0bea7ca4-c3cb-4238-b587-94c3ffb2e2b7" providerId="ADAL" clId="{0B1193C6-F070-4D8D-8FA2-2955F4A27445}" dt="2026-08-03T03:39:26.824" v="132" actId="14100"/>
        <pc:sldMkLst>
          <pc:docMk/>
          <pc:sldMk cId="3915667405" sldId="259"/>
        </pc:sldMkLst>
        <pc:spChg chg="add mod">
          <ac:chgData name="Luke Butcher" userId="0bea7ca4-c3cb-4238-b587-94c3ffb2e2b7" providerId="ADAL" clId="{0B1193C6-F070-4D8D-8FA2-2955F4A27445}" dt="2026-08-03T03:38:09.300" v="110" actId="1037"/>
          <ac:spMkLst>
            <pc:docMk/>
            <pc:sldMk cId="3915667405" sldId="259"/>
            <ac:spMk id="3" creationId="{42D2B1B6-BF08-B4F0-1A78-4B2D887ED4D8}"/>
          </ac:spMkLst>
        </pc:spChg>
        <pc:spChg chg="del">
          <ac:chgData name="Luke Butcher" userId="0bea7ca4-c3cb-4238-b587-94c3ffb2e2b7" providerId="ADAL" clId="{0B1193C6-F070-4D8D-8FA2-2955F4A27445}" dt="2026-08-03T03:37:36.760" v="74" actId="478"/>
          <ac:spMkLst>
            <pc:docMk/>
            <pc:sldMk cId="3915667405" sldId="259"/>
            <ac:spMk id="5" creationId="{C6308F61-F3FC-7944-BEBE-B5502A57D37E}"/>
          </ac:spMkLst>
        </pc:spChg>
        <pc:graphicFrameChg chg="mod modGraphic">
          <ac:chgData name="Luke Butcher" userId="0bea7ca4-c3cb-4238-b587-94c3ffb2e2b7" providerId="ADAL" clId="{0B1193C6-F070-4D8D-8FA2-2955F4A27445}" dt="2026-08-03T03:39:26.824" v="132" actId="14100"/>
          <ac:graphicFrameMkLst>
            <pc:docMk/>
            <pc:sldMk cId="3915667405" sldId="259"/>
            <ac:graphicFrameMk id="4" creationId="{18AA34D9-C130-1D41-552B-1846C6D02DF0}"/>
          </ac:graphicFrameMkLst>
        </pc:graphicFrameChg>
      </pc:sldChg>
      <pc:sldChg chg="modSp mod">
        <pc:chgData name="Luke Butcher" userId="0bea7ca4-c3cb-4238-b587-94c3ffb2e2b7" providerId="ADAL" clId="{0B1193C6-F070-4D8D-8FA2-2955F4A27445}" dt="2026-08-03T03:45:05.236" v="183" actId="27636"/>
        <pc:sldMkLst>
          <pc:docMk/>
          <pc:sldMk cId="3713403852" sldId="260"/>
        </pc:sldMkLst>
        <pc:spChg chg="mod">
          <ac:chgData name="Luke Butcher" userId="0bea7ca4-c3cb-4238-b587-94c3ffb2e2b7" providerId="ADAL" clId="{0B1193C6-F070-4D8D-8FA2-2955F4A27445}" dt="2026-08-03T03:42:28.617" v="173" actId="403"/>
          <ac:spMkLst>
            <pc:docMk/>
            <pc:sldMk cId="3713403852" sldId="260"/>
            <ac:spMk id="2" creationId="{55BCDD5E-7B6B-4A36-CD55-746A21AA5FCF}"/>
          </ac:spMkLst>
        </pc:spChg>
        <pc:spChg chg="mod">
          <ac:chgData name="Luke Butcher" userId="0bea7ca4-c3cb-4238-b587-94c3ffb2e2b7" providerId="ADAL" clId="{0B1193C6-F070-4D8D-8FA2-2955F4A27445}" dt="2026-08-03T03:45:05.236" v="183" actId="27636"/>
          <ac:spMkLst>
            <pc:docMk/>
            <pc:sldMk cId="3713403852" sldId="260"/>
            <ac:spMk id="3" creationId="{DD622D0D-7DD0-384B-C5B4-A8D1A6CEB762}"/>
          </ac:spMkLst>
        </pc:spChg>
      </pc:sldChg>
      <pc:sldChg chg="modSp mod">
        <pc:chgData name="Luke Butcher" userId="0bea7ca4-c3cb-4238-b587-94c3ffb2e2b7" providerId="ADAL" clId="{0B1193C6-F070-4D8D-8FA2-2955F4A27445}" dt="2026-08-03T03:32:07.650" v="22" actId="1037"/>
        <pc:sldMkLst>
          <pc:docMk/>
          <pc:sldMk cId="1010482673" sldId="263"/>
        </pc:sldMkLst>
        <pc:spChg chg="mod">
          <ac:chgData name="Luke Butcher" userId="0bea7ca4-c3cb-4238-b587-94c3ffb2e2b7" providerId="ADAL" clId="{0B1193C6-F070-4D8D-8FA2-2955F4A27445}" dt="2026-08-03T03:32:07.650" v="22" actId="1037"/>
          <ac:spMkLst>
            <pc:docMk/>
            <pc:sldMk cId="1010482673" sldId="263"/>
            <ac:spMk id="3" creationId="{58A4B83B-5C41-A20F-5552-B6DF3210E38C}"/>
          </ac:spMkLst>
        </pc:spChg>
      </pc:sldChg>
      <pc:sldChg chg="modSp mod">
        <pc:chgData name="Luke Butcher" userId="0bea7ca4-c3cb-4238-b587-94c3ffb2e2b7" providerId="ADAL" clId="{0B1193C6-F070-4D8D-8FA2-2955F4A27445}" dt="2026-08-03T03:40:30.616" v="147" actId="20577"/>
        <pc:sldMkLst>
          <pc:docMk/>
          <pc:sldMk cId="2041635197" sldId="265"/>
        </pc:sldMkLst>
        <pc:spChg chg="mod">
          <ac:chgData name="Luke Butcher" userId="0bea7ca4-c3cb-4238-b587-94c3ffb2e2b7" providerId="ADAL" clId="{0B1193C6-F070-4D8D-8FA2-2955F4A27445}" dt="2026-08-03T03:40:30.616" v="147" actId="20577"/>
          <ac:spMkLst>
            <pc:docMk/>
            <pc:sldMk cId="2041635197" sldId="265"/>
            <ac:spMk id="3" creationId="{93B123EF-8EF6-0621-5821-FCEAEBEFEA81}"/>
          </ac:spMkLst>
        </pc:spChg>
      </pc:sldChg>
      <pc:sldChg chg="modSp mod">
        <pc:chgData name="Luke Butcher" userId="0bea7ca4-c3cb-4238-b587-94c3ffb2e2b7" providerId="ADAL" clId="{0B1193C6-F070-4D8D-8FA2-2955F4A27445}" dt="2026-08-03T03:34:40.858" v="43" actId="27636"/>
        <pc:sldMkLst>
          <pc:docMk/>
          <pc:sldMk cId="2861409108" sldId="270"/>
        </pc:sldMkLst>
        <pc:spChg chg="mod">
          <ac:chgData name="Luke Butcher" userId="0bea7ca4-c3cb-4238-b587-94c3ffb2e2b7" providerId="ADAL" clId="{0B1193C6-F070-4D8D-8FA2-2955F4A27445}" dt="2026-08-03T03:34:40.858" v="43" actId="27636"/>
          <ac:spMkLst>
            <pc:docMk/>
            <pc:sldMk cId="2861409108" sldId="270"/>
            <ac:spMk id="3" creationId="{E4F9A3AA-55C2-681C-8C93-DC9A042A2DD7}"/>
          </ac:spMkLst>
        </pc:spChg>
      </pc:sldChg>
      <pc:sldChg chg="modSp del mod">
        <pc:chgData name="Luke Butcher" userId="0bea7ca4-c3cb-4238-b587-94c3ffb2e2b7" providerId="ADAL" clId="{0B1193C6-F070-4D8D-8FA2-2955F4A27445}" dt="2026-08-03T03:42:12.970" v="167" actId="47"/>
        <pc:sldMkLst>
          <pc:docMk/>
          <pc:sldMk cId="462906016" sldId="272"/>
        </pc:sldMkLst>
        <pc:spChg chg="mod">
          <ac:chgData name="Luke Butcher" userId="0bea7ca4-c3cb-4238-b587-94c3ffb2e2b7" providerId="ADAL" clId="{0B1193C6-F070-4D8D-8FA2-2955F4A27445}" dt="2026-08-03T03:41:54.152" v="159" actId="21"/>
          <ac:spMkLst>
            <pc:docMk/>
            <pc:sldMk cId="462906016" sldId="272"/>
            <ac:spMk id="3" creationId="{245D9A21-5490-39D2-F971-6511E9536BDD}"/>
          </ac:spMkLst>
        </pc:spChg>
      </pc:sldChg>
      <pc:sldChg chg="modSp mod">
        <pc:chgData name="Luke Butcher" userId="0bea7ca4-c3cb-4238-b587-94c3ffb2e2b7" providerId="ADAL" clId="{0B1193C6-F070-4D8D-8FA2-2955F4A27445}" dt="2026-08-03T03:47:02.225" v="225" actId="255"/>
        <pc:sldMkLst>
          <pc:docMk/>
          <pc:sldMk cId="732669509" sldId="273"/>
        </pc:sldMkLst>
        <pc:spChg chg="mod">
          <ac:chgData name="Luke Butcher" userId="0bea7ca4-c3cb-4238-b587-94c3ffb2e2b7" providerId="ADAL" clId="{0B1193C6-F070-4D8D-8FA2-2955F4A27445}" dt="2026-08-03T03:47:02.225" v="225" actId="255"/>
          <ac:spMkLst>
            <pc:docMk/>
            <pc:sldMk cId="732669509" sldId="273"/>
            <ac:spMk id="3" creationId="{4CBDF6DA-522E-F08D-1FF9-CB75369E0AC8}"/>
          </ac:spMkLst>
        </pc:spChg>
      </pc:sldChg>
      <pc:sldChg chg="modSp del mod">
        <pc:chgData name="Luke Butcher" userId="0bea7ca4-c3cb-4238-b587-94c3ffb2e2b7" providerId="ADAL" clId="{0B1193C6-F070-4D8D-8FA2-2955F4A27445}" dt="2026-08-03T03:42:20.983" v="172" actId="47"/>
        <pc:sldMkLst>
          <pc:docMk/>
          <pc:sldMk cId="4240854626" sldId="274"/>
        </pc:sldMkLst>
        <pc:spChg chg="mod">
          <ac:chgData name="Luke Butcher" userId="0bea7ca4-c3cb-4238-b587-94c3ffb2e2b7" providerId="ADAL" clId="{0B1193C6-F070-4D8D-8FA2-2955F4A27445}" dt="2026-08-03T03:42:16.954" v="168" actId="21"/>
          <ac:spMkLst>
            <pc:docMk/>
            <pc:sldMk cId="4240854626" sldId="274"/>
            <ac:spMk id="3" creationId="{0ED81B39-5719-A8B6-F49E-11784407AB66}"/>
          </ac:spMkLst>
        </pc:spChg>
      </pc:sldChg>
      <pc:sldChg chg="ord">
        <pc:chgData name="Luke Butcher" userId="0bea7ca4-c3cb-4238-b587-94c3ffb2e2b7" providerId="ADAL" clId="{0B1193C6-F070-4D8D-8FA2-2955F4A27445}" dt="2026-08-03T03:31:05.140" v="1"/>
        <pc:sldMkLst>
          <pc:docMk/>
          <pc:sldMk cId="1096362956" sldId="847"/>
        </pc:sldMkLst>
      </pc:sldChg>
      <pc:sldChg chg="ord">
        <pc:chgData name="Luke Butcher" userId="0bea7ca4-c3cb-4238-b587-94c3ffb2e2b7" providerId="ADAL" clId="{0B1193C6-F070-4D8D-8FA2-2955F4A27445}" dt="2026-08-03T03:35:56.004" v="45"/>
        <pc:sldMkLst>
          <pc:docMk/>
          <pc:sldMk cId="3761498942" sldId="852"/>
        </pc:sldMkLst>
      </pc:sldChg>
      <pc:sldChg chg="ord">
        <pc:chgData name="Luke Butcher" userId="0bea7ca4-c3cb-4238-b587-94c3ffb2e2b7" providerId="ADAL" clId="{0B1193C6-F070-4D8D-8FA2-2955F4A27445}" dt="2026-08-03T03:35:56.004" v="45"/>
        <pc:sldMkLst>
          <pc:docMk/>
          <pc:sldMk cId="2311710096" sldId="853"/>
        </pc:sldMkLst>
      </pc:sldChg>
      <pc:sldChg chg="ord">
        <pc:chgData name="Luke Butcher" userId="0bea7ca4-c3cb-4238-b587-94c3ffb2e2b7" providerId="ADAL" clId="{0B1193C6-F070-4D8D-8FA2-2955F4A27445}" dt="2026-08-03T03:35:56.004" v="45"/>
        <pc:sldMkLst>
          <pc:docMk/>
          <pc:sldMk cId="4174140115" sldId="854"/>
        </pc:sldMkLst>
      </pc:sldChg>
      <pc:sldChg chg="ord">
        <pc:chgData name="Luke Butcher" userId="0bea7ca4-c3cb-4238-b587-94c3ffb2e2b7" providerId="ADAL" clId="{0B1193C6-F070-4D8D-8FA2-2955F4A27445}" dt="2026-08-03T03:36:23.240" v="47"/>
        <pc:sldMkLst>
          <pc:docMk/>
          <pc:sldMk cId="133645559" sldId="858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9F4EE1-043E-4599-8A01-06F949002EFB}" type="datetimeFigureOut">
              <a:rPr lang="en-AU" smtClean="0"/>
              <a:t>30/07/2026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300D58-DBFA-44A5-BCCD-22EA64D1AAE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707818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MICHAEL — 2 min. My section starts here. Open on the principle, not the product; everything after this is evidence for this one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MICHAEL — 4 to 5 min. *** LIVE ***</a:t>
            </a:r>
          </a:p>
          <a:p/>
          <a:p>
            <a:r>
              <a:t>One brief, end to end. Don't narrate every field.</a:t>
            </a:r>
          </a:p>
          <a:p/>
          <a:p>
            <a:r>
              <a:t>The beat that matters: when the rating appears, disagree with one out loud and change it. That's the whole talk in ten seconds.</a:t>
            </a:r>
          </a:p>
          <a:p/>
          <a:p>
            <a:r>
              <a:t>FALLBACK: if the room deck is compiled centrally and you can't present from your laptop, play the screen recording. Confirm with Ellen before 10 Aug.</a:t>
            </a:r>
          </a:p>
          <a:p/>
          <a:p>
            <a:r>
              <a:t>Don't invite the room to follow along — the server rate-limits per 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MICHAEL — 2 min. The transferable bit.</a:t>
            </a:r>
          </a:p>
          <a:p/>
          <a:p>
            <a:r>
              <a:t>The claim isn't 'we chose to keep a human in the loop' — anyone can say that. It's that the architecture gives the model no path to the final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MICHAEL — 2 min. *** THE HONEST BIT ***</a:t>
            </a:r>
          </a:p>
          <a:p/>
          <a:p>
            <a:r>
              <a:t>Slow down. Luke caught this, not me and not the tool. Say so out loud — he's standing next to you.</a:t>
            </a:r>
          </a:p>
          <a:p/>
          <a:p>
            <a:r>
              <a:t>He spotted it from one entry: our '3.2 Explicit success criteria and rubric'.</a:t>
            </a:r>
          </a:p>
          <a:p/>
          <a:p>
            <a:r>
              <a:t>Source: docs/udl-lens-update-report.md, May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MICHAEL — 2 min. The slide this room will remember.</a:t>
            </a:r>
          </a:p>
          <a:p/>
          <a:p>
            <a:r>
              <a:t>Not gibberish: plausible, well formatted, correctly numbered, confident, wrong.</a:t>
            </a:r>
          </a:p>
          <a:p/>
          <a:p>
            <a:r>
              <a:t>Land 4.3 hard. Guideline 4 has only 4.1 and 4.2. There is no 4.3 — the model cited a thing that does not exist, and nothing in the output looked unusual.</a:t>
            </a:r>
          </a:p>
          <a:p/>
          <a:p>
            <a:r>
              <a:t>If you don't know the domain you cannot catch this by reading carefully. That is the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MICHAEL — 90 sec. Three responses. The third is the real fix: the model is not qualified to write the pedagogy, and now it doesn't.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MICHAEL — 60 sec, and the strongest thing you can say.</a:t>
            </a:r>
          </a:p>
          <a:p/>
          <a:p>
            <a:r>
              <a:t>Preparing THIS talk, drafting an expansion, the same error class reappeared. Caught by the check we built after the first time — not by anyone being careful.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MICHAEL — 90 sec, then hand back to Luke.</a:t>
            </a:r>
          </a:p>
          <a:p/>
          <a:p>
            <a:r>
              <a:t>Numbers current as of this build. Say the mappings still need Luke's sign-off — it's true, and it's the invitation.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A22B9-C671-0BD7-4B02-EB1144C995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17D735-24BF-16AC-A1C1-8FC25089B6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65856D-7C29-B703-3885-1127F3FCF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B2534-8886-4042-91C2-2126DC8ECDE1}" type="datetimeFigureOut">
              <a:rPr lang="en-AU" smtClean="0"/>
              <a:t>30/07/2026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F6F0C4-90D8-6590-7734-566DC3231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1A782-EBE9-EDFD-0F36-288DBEF44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57301-3679-450A-8DFA-4841FB14632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13064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41320-0D5E-888C-DC48-0DDDAAB3F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5024"/>
          </a:xfrm>
        </p:spPr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B24F3E-8D4E-6568-5B71-8256B89540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4875" y="1482725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7199A5-B938-E039-21FD-3DEBCA3D5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B2534-8886-4042-91C2-2126DC8ECDE1}" type="datetimeFigureOut">
              <a:rPr lang="en-AU" smtClean="0"/>
              <a:t>30/07/2026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1A6731-8C75-A914-8A4D-60112AB43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C61D1C-27FB-C4D4-80A2-0BD76B02E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57301-3679-450A-8DFA-4841FB146326}" type="slidenum">
              <a:rPr lang="en-AU" smtClean="0"/>
              <a:t>‹#›</a:t>
            </a:fld>
            <a:endParaRPr lang="en-AU"/>
          </a:p>
        </p:txBody>
      </p:sp>
      <p:pic>
        <p:nvPicPr>
          <p:cNvPr id="7" name="Picture 2" descr="http://upload.wikimedia.org/wikipedia/en/thumb/b/b9/Curtin_University_Logo.svg/1280px-Curtin_University_Logo.svg.png">
            <a:extLst>
              <a:ext uri="{FF2B5EF4-FFF2-40B4-BE49-F238E27FC236}">
                <a16:creationId xmlns:a16="http://schemas.microsoft.com/office/drawing/2014/main" id="{4022165C-E0A8-796C-1300-5FF793DF1C8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289" y="6463001"/>
            <a:ext cx="1553333" cy="260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2FCA38F-A892-7038-EE3A-7B444C52FE3D}"/>
              </a:ext>
            </a:extLst>
          </p:cNvPr>
          <p:cNvSpPr/>
          <p:nvPr userDrawn="1"/>
        </p:nvSpPr>
        <p:spPr>
          <a:xfrm>
            <a:off x="218120" y="-59320"/>
            <a:ext cx="288756" cy="69840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E4A9128-2014-B0E5-D284-100E11E53880}"/>
              </a:ext>
            </a:extLst>
          </p:cNvPr>
          <p:cNvSpPr/>
          <p:nvPr userDrawn="1"/>
        </p:nvSpPr>
        <p:spPr>
          <a:xfrm>
            <a:off x="-20004" y="-56148"/>
            <a:ext cx="200527" cy="7092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13042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24B5E-2B08-621B-B91C-61B18D4C4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A0EF5F-70FB-FD33-1E9D-07134FFEB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1539C5-8DFC-D9A0-0ADE-1FCE98A37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B2534-8886-4042-91C2-2126DC8ECDE1}" type="datetimeFigureOut">
              <a:rPr lang="en-AU" smtClean="0"/>
              <a:t>30/07/2026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BBB859-10BF-C8C2-FB75-865103844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14C8D-2742-C52A-B8D0-230AE7AF0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57301-3679-450A-8DFA-4841FB14632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38050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C4CC5-08A8-A3FF-65A2-BD987939A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5D455-16C7-8DE7-4793-4210C99453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495DD5-DF16-7109-815F-654ED3E232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6DACF5-7928-0A1B-2E5A-5C846DC7E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B2534-8886-4042-91C2-2126DC8ECDE1}" type="datetimeFigureOut">
              <a:rPr lang="en-AU" smtClean="0"/>
              <a:t>30/07/2026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F38C7A-7A4A-A9B4-FA22-B30134B30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2FBA23-5829-1411-74E2-342BFB245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57301-3679-450A-8DFA-4841FB14632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58832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F4526-E19A-01D5-C6B6-48219424B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6664F3-E2DC-E9D3-46FF-722B25CC5A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823935-A881-46FA-E081-EB289E2A94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EBD9A2-2CEA-B5A3-7E77-9DAFD9EEDF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5568F9-FA4C-3AA5-7769-DF73E13D97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DAF575-7139-4192-EE0A-87C376CEF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B2534-8886-4042-91C2-2126DC8ECDE1}" type="datetimeFigureOut">
              <a:rPr lang="en-AU" smtClean="0"/>
              <a:t>30/07/2026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E2E175-36A7-A4C4-2CD6-51024D5D3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0CA164-E633-B29C-D91F-D588D0D40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57301-3679-450A-8DFA-4841FB14632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18779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C158E-E575-C1FF-6753-E00D4AFB7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920999-206B-569D-668E-26B9EF07C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B2534-8886-4042-91C2-2126DC8ECDE1}" type="datetimeFigureOut">
              <a:rPr lang="en-AU" smtClean="0"/>
              <a:t>30/07/2026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DCF3D7-94F9-4AF1-D966-DD2DDC677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580DB7-2246-9632-DFB0-73CC0C922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57301-3679-450A-8DFA-4841FB14632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10199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690559-6638-0DF8-9946-1E209FD1C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B2534-8886-4042-91C2-2126DC8ECDE1}" type="datetimeFigureOut">
              <a:rPr lang="en-AU" smtClean="0"/>
              <a:t>30/07/2026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0E31CF-59EE-F6E2-C5B7-5231AD489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E2A0EE-DF1F-2738-FA42-8443ED210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57301-3679-450A-8DFA-4841FB146326}" type="slidenum">
              <a:rPr lang="en-AU" smtClean="0"/>
              <a:t>‹#›</a:t>
            </a:fld>
            <a:endParaRPr lang="en-AU"/>
          </a:p>
        </p:txBody>
      </p:sp>
      <p:pic>
        <p:nvPicPr>
          <p:cNvPr id="5" name="Picture 2" descr="http://upload.wikimedia.org/wikipedia/en/thumb/b/b9/Curtin_University_Logo.svg/1280px-Curtin_University_Logo.svg.png">
            <a:extLst>
              <a:ext uri="{FF2B5EF4-FFF2-40B4-BE49-F238E27FC236}">
                <a16:creationId xmlns:a16="http://schemas.microsoft.com/office/drawing/2014/main" id="{52F5DFC6-D4FC-508E-DF7F-9CAD8F38096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289" y="6463001"/>
            <a:ext cx="1553333" cy="260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66E0370-C2E0-E338-B424-2F4528C5F223}"/>
              </a:ext>
            </a:extLst>
          </p:cNvPr>
          <p:cNvSpPr/>
          <p:nvPr userDrawn="1"/>
        </p:nvSpPr>
        <p:spPr>
          <a:xfrm>
            <a:off x="218120" y="-59320"/>
            <a:ext cx="288756" cy="69840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A44ECB0-99E9-90A2-1239-5E13935B5B01}"/>
              </a:ext>
            </a:extLst>
          </p:cNvPr>
          <p:cNvSpPr/>
          <p:nvPr userDrawn="1"/>
        </p:nvSpPr>
        <p:spPr>
          <a:xfrm>
            <a:off x="-20004" y="-56148"/>
            <a:ext cx="200527" cy="7092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042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AAA85-81B6-BE79-18FA-B6757BD57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C0AA3-4D54-7CC8-0259-4B6A2FB118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EB8F91-49E3-B497-0840-D70798911D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351EC7-EEC6-AD71-386A-FC0125AC5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B2534-8886-4042-91C2-2126DC8ECDE1}" type="datetimeFigureOut">
              <a:rPr lang="en-AU" smtClean="0"/>
              <a:t>30/07/2026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7BD939-F38A-4127-F93F-042677774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35985D-316C-68B1-5A8E-C21450EC2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57301-3679-450A-8DFA-4841FB14632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18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BA242-DF96-8C04-6CE6-F2C916183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9C77BA-7F57-9CF5-B4F3-0D2C2C2D16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169EE0-E17F-F54F-6122-508FFCEE11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623C3F-DB02-45EA-6910-FCAFEDB5A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B2534-8886-4042-91C2-2126DC8ECDE1}" type="datetimeFigureOut">
              <a:rPr lang="en-AU" smtClean="0"/>
              <a:t>30/07/2026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2B80CC-7277-A378-5C37-515AE9202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69EB0-F0E6-9EF5-BDA0-DE1C59198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57301-3679-450A-8DFA-4841FB14632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47259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72ACF-2DE9-163F-388B-6EA1CEFAF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35B5FC-173C-DDE7-36EE-8D44376378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EDEFAB-3849-FDB7-A044-5C940A72D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B2534-8886-4042-91C2-2126DC8ECDE1}" type="datetimeFigureOut">
              <a:rPr lang="en-AU" smtClean="0"/>
              <a:t>30/07/2026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C94332-E07B-C820-F309-84267868E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63EE2B-D742-C397-AF2F-66A6A5A66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57301-3679-450A-8DFA-4841FB14632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5552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D9DC3C-B2A9-04D5-C294-FAD2D41ACC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7E8D2E-483D-23AE-8E07-6F386C8467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6D020-C9B9-7C38-08CB-DCC5038A5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B2534-8886-4042-91C2-2126DC8ECDE1}" type="datetimeFigureOut">
              <a:rPr lang="en-AU" smtClean="0"/>
              <a:t>30/07/2026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072173-A685-BB2C-8F06-12EC6EA91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0098CE-EBA0-F07C-C2AD-06DABE6CD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57301-3679-450A-8DFA-4841FB14632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1775310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CC03CE-F4B7-BB41-9621-5B05473DA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126F6D-56CF-B5DE-0C9E-F73A21CD85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4875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5CFB2B-1C2B-7C7D-5980-A077A9ED01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7B2534-8886-4042-91C2-2126DC8ECDE1}" type="datetimeFigureOut">
              <a:rPr lang="en-AU" smtClean="0"/>
              <a:t>30/07/2026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9C7303-24EB-26A7-6F97-41E5A4CE51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A1CB3E-0DFB-B7A1-A2C8-8ED9247AF7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057301-3679-450A-8DFA-4841FB14632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57230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drafts, the academic decides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2400" b="0"/>
              <a:t>The tool proposes a rating for each UDL 3.0 consideration, and shows its reasoning</a:t>
            </a:r>
          </a:p>
          <a:p>
            <a:pPr/>
            <a:r>
              <a:rPr sz="2400" b="1">
                <a:solidFill>
                  <a:srgbClr val="0070C0"/>
                </a:solidFill>
              </a:rPr>
              <a:t>You confirm or override every single one</a:t>
            </a:r>
          </a:p>
          <a:p>
            <a:pPr/>
            <a:r>
              <a:rPr sz="2400" b="0"/>
              <a:t>The AI’s rating and yours are separate fields. Only yours scores</a:t>
            </a:r>
          </a:p>
          <a:p>
            <a:pPr/>
            <a:r>
              <a:rPr sz="2400" b="1"/>
              <a:t>It never has the final word on a pedagogical judgement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2400" b="1">
                <a:solidFill>
                  <a:srgbClr val="0070C0"/>
                </a:solidFill>
              </a:rPr>
              <a:t>udllens.eduserver.au</a:t>
            </a:r>
          </a:p>
          <a:p>
            <a:pPr/>
            <a:r>
              <a:rPr sz="2400" b="0"/>
              <a:t>One real assessment brief, start to finish</a:t>
            </a:r>
          </a:p>
          <a:p>
            <a:pPr/>
            <a:r>
              <a:rPr sz="2400" b="1"/>
              <a:t>Watch for the moment I disagree with it – and change 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 a promise – a constraint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2400" b="1">
                <a:solidFill>
                  <a:srgbClr val="0070C0"/>
                </a:solidFill>
              </a:rPr>
              <a:t>What the model may do</a:t>
            </a:r>
          </a:p>
          <a:p>
            <a:pPr lvl="1"/>
            <a:r>
              <a:rPr sz="2000" b="0"/>
              <a:t>Read the brief, rubric and exemplar</a:t>
            </a:r>
          </a:p>
          <a:p>
            <a:pPr lvl="1"/>
            <a:r>
              <a:rPr sz="2000" b="0"/>
              <a:t>Propose a rating per consideration, with its reasoning</a:t>
            </a:r>
          </a:p>
          <a:p>
            <a:pPr lvl="1"/>
            <a:r>
              <a:rPr sz="2000" b="0"/>
              <a:t>Suggest quick wins</a:t>
            </a:r>
          </a:p>
          <a:p>
            <a:pPr/>
            <a:r>
              <a:rPr sz="2400" b="1">
                <a:solidFill>
                  <a:srgbClr val="0070C0"/>
                </a:solidFill>
              </a:rPr>
              <a:t>What it may not do</a:t>
            </a:r>
          </a:p>
          <a:p>
            <a:pPr lvl="1"/>
            <a:r>
              <a:rPr sz="2000" b="0"/>
              <a:t>Write the final rating, or score anything you haven’t seen</a:t>
            </a:r>
          </a:p>
          <a:p>
            <a:pPr lvl="1"/>
            <a:r>
              <a:rPr sz="2000" b="0"/>
              <a:t>Silently change a rating you set, or store your brief anywhere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of 21 codes were wrong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2400" b="1">
                <a:solidFill>
                  <a:srgbClr val="0070C0"/>
                </a:solidFill>
              </a:rPr>
              <a:t>Luke read the checkpoint data properly in May, and caught it</a:t>
            </a:r>
          </a:p>
          <a:p>
            <a:pPr/>
            <a:r>
              <a:rPr sz="2400" b="1"/>
              <a:t>16 of our 21 UDL codes were wrong</a:t>
            </a:r>
          </a:p>
          <a:p>
            <a:pPr lvl="1"/>
            <a:r>
              <a:rPr sz="2000" b="0"/>
              <a:t>UDL 2.2 leftovers, and codes the model appears to have invented</a:t>
            </a:r>
          </a:p>
          <a:p>
            <a:pPr/>
            <a:r>
              <a:rPr sz="2400" b="0"/>
              <a:t>He spotted it from a single entry: our “3.2 Explicit success criteria and rubric”</a:t>
            </a:r>
          </a:p>
          <a:p>
            <a:pPr lvl="1"/>
            <a:r>
              <a:rPr sz="2000" b="0"/>
              <a:t>CAST’s actual 3.2 says nothing of the kind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 didn’t look wrong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2000" b="1">
                <a:solidFill>
                  <a:srgbClr val="0070C0"/>
                </a:solidFill>
              </a:rPr>
              <a:t>What we shipped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wrap="square"/>
          <a:lstStyle/>
          <a:p>
            <a:r>
              <a:rPr sz="1800" b="0"/>
              <a:t>3.2  Explicit success criteria and rubric</a:t>
            </a:r>
          </a:p>
          <a:p>
            <a:pPr>
              <a:spcBef>
                <a:spcPts val="1000"/>
              </a:spcBef>
            </a:pPr>
            <a:r>
              <a:rPr sz="1800" b="0"/>
              <a:t>1.3  Brief meets accessibility standards</a:t>
            </a:r>
          </a:p>
          <a:p>
            <a:pPr>
              <a:spcBef>
                <a:spcPts val="1000"/>
              </a:spcBef>
            </a:pPr>
            <a:r>
              <a:rPr sz="1800" b="0"/>
              <a:t>9.2  No assumed socioeconomic advantage</a:t>
            </a:r>
          </a:p>
          <a:p>
            <a:pPr>
              <a:spcBef>
                <a:spcPts val="1000"/>
              </a:spcBef>
            </a:pPr>
            <a:r>
              <a:rPr sz="1800" b="1"/>
              <a:t>4.3  Technology requirements clearly stated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2000" b="1">
                <a:solidFill>
                  <a:srgbClr val="0070C0"/>
                </a:solidFill>
              </a:rPr>
              <a:t>What UDL 3.0 actually says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 wrap="square"/>
          <a:lstStyle/>
          <a:p>
            <a:r>
              <a:rPr sz="1800" b="0"/>
              <a:t>Highlight patterns and big ideas</a:t>
            </a:r>
          </a:p>
          <a:p>
            <a:pPr>
              <a:spcBef>
                <a:spcPts val="1000"/>
              </a:spcBef>
            </a:pPr>
            <a:r>
              <a:rPr sz="1800" b="0"/>
              <a:t>Represent diverse perspectives and identities</a:t>
            </a:r>
          </a:p>
          <a:p>
            <a:pPr>
              <a:spcBef>
                <a:spcPts val="1000"/>
              </a:spcBef>
            </a:pPr>
            <a:r>
              <a:rPr sz="1800" b="0"/>
              <a:t>Develop awareness of self and others</a:t>
            </a:r>
          </a:p>
          <a:p>
            <a:pPr>
              <a:spcBef>
                <a:spcPts val="1000"/>
              </a:spcBef>
            </a:pPr>
            <a:r>
              <a:rPr sz="1800" b="1"/>
              <a:t>There is no 4.3. Guideline 4 stops at 4.2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892040"/>
            <a:ext cx="10515600" cy="5486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2000" b="1">
                <a:solidFill>
                  <a:srgbClr val="0070C0"/>
                </a:solidFill>
              </a:rPr>
              <a:t>Plausible, well formatted, confidently numbered, and wrong.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reset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2400" b="0"/>
              <a:t>Stripped back to six – only considerations Luke had verified against CAST</a:t>
            </a:r>
          </a:p>
          <a:p>
            <a:pPr/>
            <a:r>
              <a:rPr sz="2400" b="0"/>
              <a:t>Made the codes checkable – every code now validates against a canonical UDL 3.0 table</a:t>
            </a:r>
          </a:p>
          <a:p>
            <a:pPr/>
            <a:r>
              <a:rPr sz="2400" b="1">
                <a:solidFill>
                  <a:srgbClr val="0070C0"/>
                </a:solidFill>
              </a:rPr>
              <a:t>Took the pedagogy off the model – the practices are written by someone who teaches</a:t>
            </a:r>
          </a:p>
          <a:p>
            <a:pPr/>
            <a:r>
              <a:rPr sz="2400" b="0"/>
              <a:t>Kept the receipts – the 21-checkpoint version is still in git history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 happened again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2400" b="0"/>
              <a:t>Two weeks ago, drafting an expansion to more assessment types</a:t>
            </a:r>
          </a:p>
          <a:p>
            <a:pPr lvl="1"/>
            <a:r>
              <a:rPr sz="2000" b="0"/>
              <a:t>UDL 2.2 names again, and two codes that had moved between versions</a:t>
            </a:r>
          </a:p>
          <a:p>
            <a:pPr/>
            <a:r>
              <a:rPr sz="2400" b="1">
                <a:solidFill>
                  <a:srgbClr val="0070C0"/>
                </a:solidFill>
              </a:rPr>
              <a:t>Caught by the check we built the first time, not by anyone being careful</a:t>
            </a:r>
          </a:p>
          <a:p>
            <a:pPr/>
            <a:r>
              <a:rPr sz="2400" b="1"/>
              <a:t>This isn’t a bug you fix once. It’s a property you design around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it is now, and what transfers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2400" b="1">
                <a:solidFill>
                  <a:srgbClr val="0070C0"/>
                </a:solidFill>
              </a:rPr>
              <a:t>The prototype today</a:t>
            </a:r>
          </a:p>
          <a:p>
            <a:pPr lvl="1"/>
            <a:r>
              <a:rPr sz="2000" b="0"/>
              <a:t>15 assessment types, 57 UDL 3.0 considerations, all nine guidelines</a:t>
            </a:r>
          </a:p>
          <a:p>
            <a:pPr lvl="1"/>
            <a:r>
              <a:rPr sz="2000" b="0"/>
              <a:t>Every code machine-verified against CAST; live, no login, nothing stored</a:t>
            </a:r>
          </a:p>
          <a:p>
            <a:pPr lvl="1"/>
            <a:r>
              <a:rPr sz="2000" b="0"/>
              <a:t>Mappings drafted – the pedagogy still needs Luke’s sign-off</a:t>
            </a:r>
          </a:p>
          <a:p>
            <a:pPr/>
            <a:r>
              <a:rPr sz="2400" b="1">
                <a:solidFill>
                  <a:srgbClr val="0070C0"/>
                </a:solidFill>
              </a:rPr>
              <a:t>What transfers</a:t>
            </a:r>
          </a:p>
          <a:p>
            <a:pPr lvl="1"/>
            <a:r>
              <a:rPr sz="2000" b="0"/>
              <a:t>Let AI draft, never decide. Make its claims machine-checkable</a:t>
            </a:r>
          </a:p>
          <a:p>
            <a:pPr lvl="1"/>
            <a:r>
              <a:rPr sz="2000" b="0"/>
              <a:t>Keep domain authorship human. Expect plausible-and-wrong, and design for 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6324</TotalTime>
  <Words>2331</Words>
  <Application>Microsoft Office PowerPoint</Application>
  <PresentationFormat>Widescreen</PresentationFormat>
  <Paragraphs>188</Paragraphs>
  <Slides>39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Aptos</vt:lpstr>
      <vt:lpstr>Aptos Display</vt:lpstr>
      <vt:lpstr>Arial</vt:lpstr>
      <vt:lpstr>Times New Roman</vt:lpstr>
      <vt:lpstr>Office Theme</vt:lpstr>
      <vt:lpstr>UDL Lens: A tool for evaluating and improving Universal Design of Learning</vt:lpstr>
      <vt:lpstr>What Will You Get Out of today</vt:lpstr>
      <vt:lpstr>PowerPoint Presentation</vt:lpstr>
      <vt:lpstr>Accessible HE</vt:lpstr>
      <vt:lpstr>Living With Disability - Employment</vt:lpstr>
      <vt:lpstr>Background</vt:lpstr>
      <vt:lpstr>Accessibility and Social Responsibility</vt:lpstr>
      <vt:lpstr>Universal Design for Learning (UDL)</vt:lpstr>
      <vt:lpstr>Accessibility vs. UDL</vt:lpstr>
      <vt:lpstr>PowerPoint Presentation</vt:lpstr>
      <vt:lpstr>PowerPoint Presentation</vt:lpstr>
      <vt:lpstr>UDL Guidelines</vt:lpstr>
      <vt:lpstr>The evolution of Version 3</vt:lpstr>
      <vt:lpstr>UDL Guidelines: Engagement</vt:lpstr>
      <vt:lpstr>UDL Guidelines: Representation</vt:lpstr>
      <vt:lpstr>UDL Guidelines: Action and Expression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ACF – Excellence Benchmarks (Teaching)</vt:lpstr>
      <vt:lpstr>ACF – Excellence Benchmarks (Teaching)</vt:lpstr>
      <vt:lpstr>PowerPoint Presentation</vt:lpstr>
      <vt:lpstr>What to use it for?</vt:lpstr>
      <vt:lpstr>iSoLT: ‘L&amp;T Portfolio Development’ (#6 – SoMM Baseline Targets) </vt:lpstr>
      <vt:lpstr>iSoLT: ‘Teaching Practice and Innovation Improvement’ (#10) </vt:lpstr>
      <vt:lpstr>PowerPoint Presentation</vt:lpstr>
      <vt:lpstr>PowerPoint Presentation</vt:lpstr>
      <vt:lpstr>University’s ‘iSoLT Activity Planner’  Source: https://staffportal.curtin.edu.au/wp-content/uploads/2024/09/PAC-Employment-PerformancePlanning-Academic-PerformanceAndCareer-ISoLT-Activity-Planner-Sep-2022.pdf</vt:lpstr>
      <vt:lpstr>PowerPoint Presentation</vt:lpstr>
      <vt:lpstr>UDL Lens – What It Is?</vt:lpstr>
      <vt:lpstr>UDL Lens – A Look Under the Hood</vt:lpstr>
      <vt:lpstr>UDL Lens – Time to Get Your Hands Dirty</vt:lpstr>
      <vt:lpstr>PowerPoint Presentation</vt:lpstr>
      <vt:lpstr>PowerPoint Presentation</vt:lpstr>
      <vt:lpstr>PowerPoint Presentation</vt:lpstr>
      <vt:lpstr>Any Questions About UDL Lens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drafts, the academic decides — UDL Lens (Michael's section)</dc:title>
  <dc:creator>Michael Borck; Luke Butcher</dc:creator>
  <cp:lastModifiedBy>Luke Butcher</cp:lastModifiedBy>
  <cp:revision>2</cp:revision>
  <dcterms:created xsi:type="dcterms:W3CDTF">2026-07-15T22:57:02Z</dcterms:created>
  <dcterms:modified xsi:type="dcterms:W3CDTF">2026-08-03T03:47:05Z</dcterms:modified>
  <dc:subject>Assessment 2030 Showcase, 20 August 2026</dc:subject>
</cp:coreProperties>
</file>